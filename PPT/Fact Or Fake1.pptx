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1" r:id="rId17"/>
    <p:sldId id="270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60"/>
  </p:normalViewPr>
  <p:slideViewPr>
    <p:cSldViewPr snapToGrid="0" showGuides="1">
      <p:cViewPr varScale="1">
        <p:scale>
          <a:sx n="53" d="100"/>
          <a:sy n="53" d="100"/>
        </p:scale>
        <p:origin x="180" y="5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1" Type="http://schemas.openxmlformats.org/officeDocument/2006/relationships/tableStyles" Target="tableStyles.xml"/><Relationship Id="rId20" Type="http://schemas.openxmlformats.org/officeDocument/2006/relationships/viewProps" Target="viewProps.xml"/><Relationship Id="rId2" Type="http://schemas.openxmlformats.org/officeDocument/2006/relationships/theme" Target="theme/theme1.xml"/><Relationship Id="rId19" Type="http://schemas.openxmlformats.org/officeDocument/2006/relationships/presProps" Target="presProps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208933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051" name="Rectangle 3"/>
          <p:cNvSpPr>
            <a:spLocks noGrp="1" noChangeArrowheads="1"/>
          </p:cNvSpPr>
          <p:nvPr>
            <p:ph type="ctrTitle"/>
          </p:nvPr>
        </p:nvSpPr>
        <p:spPr>
          <a:xfrm>
            <a:off x="624417" y="1196975"/>
            <a:ext cx="10943167" cy="1082675"/>
          </a:xfrm>
        </p:spPr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altLang="zh-CN" noProof="0" smtClean="0"/>
              <a:t>Click to edit Master title style</a:t>
            </a:r>
            <a:endParaRPr lang="en-US" altLang="zh-CN" noProof="0" smtClean="0"/>
          </a:p>
        </p:txBody>
      </p:sp>
      <p:sp>
        <p:nvSpPr>
          <p:cNvPr id="2052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626533" y="2422525"/>
            <a:ext cx="10949517" cy="1752600"/>
          </a:xfrm>
        </p:spPr>
        <p:txBody>
          <a:bodyPr/>
          <a:lstStyle>
            <a:lvl1pPr marL="0" indent="0" algn="ctr">
              <a:buFontTx/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altLang="zh-CN" noProof="0" smtClean="0"/>
              <a:t>Click to edit Master subtitle style</a:t>
            </a:r>
            <a:endParaRPr lang="en-US" altLang="zh-CN" noProof="0" smtClean="0"/>
          </a:p>
        </p:txBody>
      </p:sp>
      <p:sp>
        <p:nvSpPr>
          <p:cNvPr id="9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10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11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3"/>
            <a:ext cx="105156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174750"/>
            <a:ext cx="5384800" cy="49530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174750"/>
            <a:ext cx="5384800" cy="49530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0317" y="1681163"/>
            <a:ext cx="515831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40317" y="2505075"/>
            <a:ext cx="5158316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71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71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717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7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717" y="987425"/>
            <a:ext cx="6172200" cy="4873625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7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190500"/>
            <a:ext cx="2743200" cy="593725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190500"/>
            <a:ext cx="8026400" cy="593725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2.jpe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1026" name="Picture 9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0" y="0"/>
            <a:ext cx="12208933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27" name="Rectangle 3"/>
          <p:cNvSpPr>
            <a:spLocks noGrp="1"/>
          </p:cNvSpPr>
          <p:nvPr>
            <p:ph type="title"/>
          </p:nvPr>
        </p:nvSpPr>
        <p:spPr>
          <a:xfrm>
            <a:off x="609600" y="190500"/>
            <a:ext cx="10972800" cy="582613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lvl="0"/>
            <a:r>
              <a:rPr lang="en-US" altLang="zh-CN" dirty="0"/>
              <a:t>Click to edit Master title style</a:t>
            </a:r>
            <a:endParaRPr lang="en-US" altLang="zh-CN" dirty="0"/>
          </a:p>
        </p:txBody>
      </p:sp>
      <p:sp>
        <p:nvSpPr>
          <p:cNvPr id="1028" name="Rectangle 4"/>
          <p:cNvSpPr>
            <a:spLocks noGrp="1"/>
          </p:cNvSpPr>
          <p:nvPr>
            <p:ph type="body" idx="1"/>
          </p:nvPr>
        </p:nvSpPr>
        <p:spPr>
          <a:xfrm>
            <a:off x="609600" y="1174750"/>
            <a:ext cx="10972800" cy="49530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lang="en-US" altLang="zh-CN" dirty="0"/>
              <a:t>Click to edit Master text styles</a:t>
            </a:r>
            <a:endParaRPr lang="en-US" altLang="zh-CN" dirty="0"/>
          </a:p>
          <a:p>
            <a:pPr lvl="1"/>
            <a:r>
              <a:rPr lang="en-US" altLang="zh-CN" dirty="0"/>
              <a:t>Second level</a:t>
            </a:r>
            <a:endParaRPr lang="en-US" altLang="zh-CN" dirty="0"/>
          </a:p>
          <a:p>
            <a:pPr lvl="2"/>
            <a:r>
              <a:rPr lang="en-US" altLang="zh-CN" dirty="0"/>
              <a:t>Third level</a:t>
            </a:r>
            <a:endParaRPr lang="en-US" altLang="zh-CN" dirty="0"/>
          </a:p>
          <a:p>
            <a:pPr lvl="3"/>
            <a:r>
              <a:rPr lang="en-US" altLang="zh-CN" dirty="0"/>
              <a:t>Fourth level</a:t>
            </a:r>
            <a:endParaRPr lang="en-US" altLang="zh-CN" dirty="0"/>
          </a:p>
          <a:p>
            <a:pPr lvl="4"/>
            <a:r>
              <a:rPr lang="en-US" altLang="zh-CN" dirty="0"/>
              <a:t>Fifth level</a:t>
            </a:r>
            <a:endParaRPr lang="en-US" altLang="zh-CN" dirty="0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 sz="1400"/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>
              <a:defRPr sz="1400"/>
            </a:lvl1pPr>
          </a:lstStyle>
          <a:p>
            <a:endParaRPr lang="en-US"/>
          </a:p>
        </p:txBody>
      </p:sp>
      <p:sp>
        <p:nvSpPr>
          <p:cNvPr id="1031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/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rtl="0" fontAlgn="base">
        <a:spcBef>
          <a:spcPct val="0"/>
        </a:spcBef>
        <a:spcAft>
          <a:spcPct val="0"/>
        </a:spcAft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2pPr>
      <a:lvl3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3pPr>
      <a:lvl4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4pPr>
      <a:lvl5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p>
            <a:r>
              <a:rPr lang="en-US" dirty="0">
                <a:sym typeface="+mn-ea"/>
              </a:rPr>
              <a:t>Fact Or Fake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p>
            <a:r>
              <a:rPr lang="en-US" dirty="0">
                <a:sym typeface="+mn-ea"/>
              </a:rPr>
              <a:t>A Fake News Detection Classifier</a:t>
            </a:r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IN" dirty="0">
                <a:sym typeface="+mn-ea"/>
              </a:rPr>
              <a:t>Problem Statement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IN" dirty="0">
                <a:sym typeface="+mn-ea"/>
              </a:rPr>
              <a:t>Some Images of fake </a:t>
            </a:r>
            <a:r>
              <a:rPr lang="en-IN" dirty="0" err="1">
                <a:sym typeface="+mn-ea"/>
              </a:rPr>
              <a:t>webites</a:t>
            </a:r>
            <a:endParaRPr lang="en-IN" dirty="0"/>
          </a:p>
          <a:p>
            <a:r>
              <a:rPr lang="en-IN" dirty="0">
                <a:sym typeface="+mn-ea"/>
              </a:rPr>
              <a:t>Fake news snippets</a:t>
            </a:r>
            <a:endParaRPr lang="en-IN" dirty="0"/>
          </a:p>
          <a:p>
            <a:r>
              <a:rPr lang="en-IN" dirty="0">
                <a:sym typeface="+mn-ea"/>
              </a:rPr>
              <a:t>Little funny intro</a:t>
            </a:r>
            <a:endParaRPr lang="en-IN" dirty="0"/>
          </a:p>
          <a:p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IN" dirty="0">
                <a:sym typeface="+mn-ea"/>
              </a:rPr>
              <a:t>Data Set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IN" dirty="0">
                <a:sym typeface="+mn-ea"/>
              </a:rPr>
              <a:t>Kaggle column snippets</a:t>
            </a:r>
            <a:endParaRPr lang="en-IN" dirty="0"/>
          </a:p>
          <a:p>
            <a:r>
              <a:rPr lang="en-IN" dirty="0">
                <a:sym typeface="+mn-ea"/>
              </a:rPr>
              <a:t>What all columns : small explanation</a:t>
            </a:r>
            <a:endParaRPr lang="en-IN" dirty="0"/>
          </a:p>
          <a:p>
            <a:r>
              <a:rPr lang="en-IN" dirty="0">
                <a:sym typeface="+mn-ea"/>
              </a:rPr>
              <a:t>Stats table: number of rows, number of fact &amp; fake</a:t>
            </a:r>
            <a:endParaRPr lang="en-IN" dirty="0"/>
          </a:p>
          <a:p>
            <a:r>
              <a:rPr lang="en-IN" dirty="0">
                <a:sym typeface="+mn-ea"/>
              </a:rPr>
              <a:t>length of article</a:t>
            </a:r>
            <a:endParaRPr lang="en-IN" dirty="0"/>
          </a:p>
          <a:p>
            <a:r>
              <a:rPr lang="en-IN" dirty="0">
                <a:sym typeface="+mn-ea"/>
              </a:rPr>
              <a:t>Charts</a:t>
            </a:r>
            <a:endParaRPr lang="en-IN" dirty="0"/>
          </a:p>
          <a:p>
            <a:pPr marL="0" indent="0">
              <a:buNone/>
            </a:pPr>
            <a:endParaRPr lang="en-IN" dirty="0"/>
          </a:p>
          <a:p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IN" dirty="0">
                <a:sym typeface="+mn-ea"/>
              </a:rPr>
              <a:t>Experiment Setup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IN" dirty="0">
                <a:sym typeface="+mn-ea"/>
              </a:rPr>
              <a:t>Why NLP?</a:t>
            </a:r>
            <a:endParaRPr lang="en-IN" dirty="0"/>
          </a:p>
          <a:p>
            <a:r>
              <a:rPr lang="en-IN" dirty="0" err="1">
                <a:sym typeface="+mn-ea"/>
              </a:rPr>
              <a:t>Preprocessing</a:t>
            </a:r>
            <a:r>
              <a:rPr lang="en-IN" dirty="0">
                <a:sym typeface="+mn-ea"/>
              </a:rPr>
              <a:t> steps:</a:t>
            </a:r>
            <a:br>
              <a:rPr lang="en-IN" dirty="0">
                <a:sym typeface="+mn-ea"/>
              </a:rPr>
            </a:br>
            <a:r>
              <a:rPr lang="en-IN" dirty="0">
                <a:sym typeface="+mn-ea"/>
              </a:rPr>
              <a:t>stemming…..negation handling</a:t>
            </a:r>
            <a:endParaRPr lang="en-IN" dirty="0"/>
          </a:p>
          <a:p>
            <a:r>
              <a:rPr lang="en-IN" dirty="0">
                <a:sym typeface="+mn-ea"/>
              </a:rPr>
              <a:t>Stratified Sampling</a:t>
            </a:r>
            <a:endParaRPr lang="en-IN" dirty="0"/>
          </a:p>
          <a:p>
            <a:endParaRPr lang="en-IN" dirty="0"/>
          </a:p>
          <a:p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2660015"/>
            <a:ext cx="10972800" cy="3467735"/>
          </a:xfrm>
        </p:spPr>
        <p:txBody>
          <a:bodyPr/>
          <a:p>
            <a:r>
              <a:rPr lang="en-IN" dirty="0">
                <a:sym typeface="+mn-ea"/>
              </a:rPr>
              <a:t>Model Features</a:t>
            </a:r>
            <a:endParaRPr lang="en-IN" dirty="0"/>
          </a:p>
          <a:p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IN" dirty="0">
                <a:sym typeface="+mn-ea"/>
              </a:rPr>
              <a:t>Word2Vec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IN" sz="3200" dirty="0">
                <a:sym typeface="+mn-ea"/>
              </a:rPr>
              <a:t>2 Layered Neural Network to create Word Embeddings</a:t>
            </a:r>
            <a:endParaRPr lang="en-IN" sz="3200" dirty="0"/>
          </a:p>
          <a:p>
            <a:r>
              <a:rPr lang="en-IN" sz="3200" dirty="0">
                <a:sym typeface="+mn-ea"/>
              </a:rPr>
              <a:t>Understands the context to group words</a:t>
            </a:r>
            <a:endParaRPr lang="en-IN" sz="3200" dirty="0"/>
          </a:p>
          <a:p>
            <a:r>
              <a:rPr lang="en-IN" sz="3200" dirty="0">
                <a:sym typeface="+mn-ea"/>
              </a:rPr>
              <a:t>Variants</a:t>
            </a:r>
            <a:endParaRPr lang="en-IN" sz="3200" dirty="0"/>
          </a:p>
          <a:p>
            <a:pPr lvl="1"/>
            <a:r>
              <a:rPr lang="en-IN" sz="3200" dirty="0">
                <a:sym typeface="+mn-ea"/>
              </a:rPr>
              <a:t>Continuous Bag Of Words: Context -&gt; Target word</a:t>
            </a:r>
            <a:endParaRPr lang="en-IN" sz="3200" dirty="0"/>
          </a:p>
          <a:p>
            <a:pPr lvl="1"/>
            <a:r>
              <a:rPr lang="en-IN" sz="3200" dirty="0">
                <a:sym typeface="+mn-ea"/>
              </a:rPr>
              <a:t>Skip Gram Model: Target Word -&gt; Context</a:t>
            </a:r>
            <a:endParaRPr lang="en-IN" sz="3200" dirty="0"/>
          </a:p>
          <a:p>
            <a:pPr marL="0" indent="0">
              <a:buNone/>
            </a:pPr>
            <a:br>
              <a:rPr lang="en-IN" sz="3200" dirty="0">
                <a:sym typeface="+mn-ea"/>
              </a:rPr>
            </a:br>
            <a:endParaRPr lang="en-IN" sz="3200" dirty="0"/>
          </a:p>
          <a:p>
            <a:endParaRPr lang="en-IN" sz="3200" dirty="0"/>
          </a:p>
          <a:p>
            <a:endParaRPr lang="en-US"/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74695" y="3977005"/>
            <a:ext cx="4938395" cy="268859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IN" dirty="0">
                <a:sym typeface="+mn-ea"/>
              </a:rPr>
              <a:t>Doc2Vec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sym typeface="+mn-ea"/>
              </a:rPr>
              <a:t>Created a fixed Length vector of length 300 for Body </a:t>
            </a:r>
            <a:r>
              <a:rPr lang="en-IN">
                <a:sym typeface="+mn-ea"/>
              </a:rPr>
              <a:t>And Headline</a:t>
            </a:r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sym typeface="+mn-ea"/>
              </a:rPr>
              <a:t>The paragraph vector and word vectors are averaged to predict next word in context.</a:t>
            </a:r>
            <a:endParaRPr lang="en-IN" dirty="0"/>
          </a:p>
          <a:p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35670" y="3232762"/>
            <a:ext cx="3671020" cy="257175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IN" dirty="0">
                <a:sym typeface="+mn-ea"/>
              </a:rPr>
              <a:t>Sentiment Analysis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IN" dirty="0">
                <a:sym typeface="+mn-ea"/>
              </a:rPr>
              <a:t>NLTK Vader – (Valence Aware Dictionary and </a:t>
            </a:r>
            <a:r>
              <a:rPr lang="en-IN" b="1" dirty="0">
                <a:sym typeface="+mn-ea"/>
              </a:rPr>
              <a:t>Sentiment</a:t>
            </a:r>
            <a:r>
              <a:rPr lang="en-IN" dirty="0">
                <a:sym typeface="+mn-ea"/>
              </a:rPr>
              <a:t> Reasoner)</a:t>
            </a:r>
            <a:endParaRPr lang="en-IN" dirty="0"/>
          </a:p>
          <a:p>
            <a:r>
              <a:rPr lang="en-IN" dirty="0">
                <a:sym typeface="+mn-ea"/>
              </a:rPr>
              <a:t>“The book was kind of good.”</a:t>
            </a:r>
            <a:br>
              <a:rPr lang="en-IN" dirty="0">
                <a:sym typeface="+mn-ea"/>
              </a:rPr>
            </a:br>
            <a:r>
              <a:rPr lang="en-IN" dirty="0">
                <a:sym typeface="+mn-ea"/>
              </a:rPr>
              <a:t>Compound: 0.3832, neg: 0.0, neu: 0.657, pos: 0.343</a:t>
            </a:r>
            <a:endParaRPr lang="en-IN" dirty="0"/>
          </a:p>
          <a:p>
            <a:pPr marL="0" indent="0">
              <a:buNone/>
            </a:pPr>
            <a:endParaRPr lang="en-IN" dirty="0"/>
          </a:p>
          <a:p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IN" dirty="0">
                <a:sym typeface="+mn-ea"/>
              </a:rPr>
              <a:t>URL Matching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174750"/>
            <a:ext cx="10972800" cy="2622550"/>
          </a:xfrm>
        </p:spPr>
        <p:txBody>
          <a:bodyPr/>
          <a:p>
            <a:r>
              <a:rPr lang="en-IN" dirty="0">
                <a:sym typeface="+mn-ea"/>
              </a:rPr>
              <a:t>Compiled list of authentic and fake websites</a:t>
            </a:r>
            <a:endParaRPr lang="en-IN" dirty="0"/>
          </a:p>
          <a:p>
            <a:r>
              <a:rPr lang="en-IN" dirty="0">
                <a:sym typeface="+mn-ea"/>
              </a:rPr>
              <a:t>String Matching with Training Data URL</a:t>
            </a:r>
            <a:endParaRPr lang="en-IN" dirty="0"/>
          </a:p>
          <a:p>
            <a:r>
              <a:rPr lang="en-IN" dirty="0">
                <a:sym typeface="+mn-ea"/>
              </a:rPr>
              <a:t>Assigned score based on closeness with fake or real websites</a:t>
            </a:r>
            <a:endParaRPr lang="en-IN" dirty="0"/>
          </a:p>
          <a:p>
            <a:endParaRPr lang="en-US"/>
          </a:p>
        </p:txBody>
      </p:sp>
      <p:sp>
        <p:nvSpPr>
          <p:cNvPr id="4" name="Rectangles 3"/>
          <p:cNvSpPr/>
          <p:nvPr/>
        </p:nvSpPr>
        <p:spPr>
          <a:xfrm>
            <a:off x="387985" y="3797300"/>
            <a:ext cx="10192385" cy="2285365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none" lIns="91440" tIns="45720" rIns="91440" bIns="45720" numCol="1" anchor="ctr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IN" dirty="0">
                <a:sym typeface="+mn-ea"/>
              </a:rPr>
              <a:t> 	  Real 	 	 	 	 	 	 	 	 	   Fake</a:t>
            </a:r>
            <a:br>
              <a:rPr lang="en-IN" dirty="0">
                <a:sym typeface="+mn-ea"/>
              </a:rPr>
            </a:br>
            <a:r>
              <a:rPr lang="en-IN" dirty="0">
                <a:sym typeface="+mn-ea"/>
              </a:rPr>
              <a:t>www.bbc.com  	  	 	 	 	  	www.bbcn.com </a:t>
            </a:r>
            <a:endParaRPr kumimoji="0" lang="zh-CN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SimSun" panose="02010600030101010101" pitchFamily="2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IN" dirty="0">
                <a:sym typeface="+mn-ea"/>
              </a:rPr>
              <a:t>Classifiers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IN" dirty="0">
                <a:sym typeface="+mn-ea"/>
              </a:rPr>
              <a:t>SVM</a:t>
            </a:r>
            <a:endParaRPr lang="en-IN" dirty="0"/>
          </a:p>
          <a:p>
            <a:r>
              <a:rPr lang="en-IN" dirty="0">
                <a:sym typeface="+mn-ea"/>
              </a:rPr>
              <a:t>Parameter tuning – grid search</a:t>
            </a:r>
            <a:endParaRPr lang="en-IN" dirty="0"/>
          </a:p>
          <a:p>
            <a:r>
              <a:rPr lang="en-IN" dirty="0">
                <a:sym typeface="+mn-ea"/>
              </a:rPr>
              <a:t>Accuracy – kernel, C value</a:t>
            </a:r>
            <a:endParaRPr lang="en-IN" dirty="0"/>
          </a:p>
          <a:p>
            <a:r>
              <a:rPr lang="en-IN" dirty="0">
                <a:sym typeface="+mn-ea"/>
              </a:rPr>
              <a:t>Cross validation - 5fold</a:t>
            </a:r>
            <a:endParaRPr lang="en-IN" dirty="0"/>
          </a:p>
          <a:p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IN" dirty="0">
                <a:sym typeface="+mn-ea"/>
              </a:rPr>
              <a:t>Decision Tree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IN" dirty="0">
                <a:sym typeface="+mn-ea"/>
              </a:rPr>
              <a:t>Parameters</a:t>
            </a:r>
            <a:endParaRPr lang="en-IN" dirty="0"/>
          </a:p>
          <a:p>
            <a:r>
              <a:rPr lang="en-IN" dirty="0">
                <a:sym typeface="+mn-ea"/>
              </a:rPr>
              <a:t>Accuracy</a:t>
            </a:r>
            <a:endParaRPr lang="en-IN" dirty="0"/>
          </a:p>
          <a:p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IN" dirty="0">
                <a:sym typeface="+mn-ea"/>
              </a:rPr>
              <a:t>Naïve Bayes</a:t>
            </a:r>
            <a:endParaRPr lang="en-IN" dirty="0"/>
          </a:p>
          <a:p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IN" dirty="0">
                <a:sym typeface="+mn-ea"/>
              </a:rPr>
              <a:t>Deep Learning</a:t>
            </a:r>
            <a:endParaRPr lang="en-IN" dirty="0"/>
          </a:p>
          <a:p>
            <a:r>
              <a:rPr lang="en-IN" dirty="0">
                <a:sym typeface="+mn-ea"/>
              </a:rPr>
              <a:t>Dense Network 1 hidden  layer</a:t>
            </a:r>
            <a:endParaRPr lang="en-IN" dirty="0"/>
          </a:p>
          <a:p>
            <a:r>
              <a:rPr lang="en-IN" dirty="0">
                <a:sym typeface="+mn-ea"/>
              </a:rPr>
              <a:t>Accuracy</a:t>
            </a:r>
            <a:endParaRPr lang="en-IN" dirty="0"/>
          </a:p>
          <a:p>
            <a:endParaRPr lang="en-IN" dirty="0"/>
          </a:p>
          <a:p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IN" dirty="0">
                <a:sym typeface="+mn-ea"/>
              </a:rPr>
              <a:t>Ensemble - Accuracy</a:t>
            </a:r>
            <a:endParaRPr lang="en-IN" dirty="0"/>
          </a:p>
          <a:p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IN" dirty="0">
                <a:sym typeface="+mn-ea"/>
              </a:rPr>
              <a:t>Conclusion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IN" dirty="0">
                <a:sym typeface="+mn-ea"/>
              </a:rPr>
              <a:t>We found that Deep Learning gives the best accuracy. And ensemble.</a:t>
            </a:r>
            <a:endParaRPr lang="en-IN" dirty="0"/>
          </a:p>
          <a:p>
            <a:r>
              <a:rPr lang="en-IN" dirty="0">
                <a:sym typeface="+mn-ea"/>
              </a:rPr>
              <a:t>Future scope : Fact Check</a:t>
            </a:r>
            <a:endParaRPr lang="en-IN" dirty="0"/>
          </a:p>
          <a:p>
            <a:r>
              <a:rPr lang="en-IN" dirty="0">
                <a:sym typeface="+mn-ea"/>
              </a:rPr>
              <a:t>Don’t trust any article on face value.</a:t>
            </a:r>
            <a:endParaRPr lang="en-IN" dirty="0"/>
          </a:p>
          <a:p>
            <a:r>
              <a:rPr lang="en-IN" dirty="0">
                <a:sym typeface="+mn-ea"/>
              </a:rPr>
              <a:t>Check with us first.</a:t>
            </a:r>
            <a:endParaRPr lang="en-IN" dirty="0"/>
          </a:p>
          <a:p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lue Waves">
  <a:themeElements>
    <a:clrScheme name="Blue Waves 13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66CC"/>
      </a:accent1>
      <a:accent2>
        <a:srgbClr val="3399FF"/>
      </a:accent2>
      <a:accent3>
        <a:srgbClr val="FFFFFF"/>
      </a:accent3>
      <a:accent4>
        <a:srgbClr val="000000"/>
      </a:accent4>
      <a:accent5>
        <a:srgbClr val="AAB8E2"/>
      </a:accent5>
      <a:accent6>
        <a:srgbClr val="2D8AE7"/>
      </a:accent6>
      <a:hlink>
        <a:srgbClr val="CC3300"/>
      </a:hlink>
      <a:folHlink>
        <a:srgbClr val="996600"/>
      </a:folHlink>
    </a:clrScheme>
    <a:fontScheme name="Blue Waves">
      <a:majorFont>
        <a:latin typeface="Arial"/>
        <a:ea typeface="SimSun"/>
        <a:cs typeface=""/>
      </a:majorFont>
      <a:minorFont>
        <a:latin typeface="Arial"/>
        <a:ea typeface="SimSun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accent2"/>
            </a:gs>
          </a:gsLst>
          <a:lin ang="5400000" scaled="1"/>
        </a:gradFill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SimSun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accent2"/>
            </a:gs>
          </a:gsLst>
          <a:lin ang="5400000" scaled="1"/>
        </a:gradFill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SimSun" panose="02010600030101010101" pitchFamily="2" charset="-122"/>
          </a:defRPr>
        </a:defPPr>
      </a:lstStyle>
    </a:lnDef>
  </a:objectDefaults>
  <a:extraClrSchemeLst>
    <a:extraClrScheme>
      <a:clrScheme name="Blue Waves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 Waves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 Waves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 Waves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 Waves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 Waves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 Waves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 Waves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 Waves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 Waves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 Waves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 Waves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 Waves 13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0066CC"/>
        </a:accent1>
        <a:accent2>
          <a:srgbClr val="3399FF"/>
        </a:accent2>
        <a:accent3>
          <a:srgbClr val="FFFFFF"/>
        </a:accent3>
        <a:accent4>
          <a:srgbClr val="000000"/>
        </a:accent4>
        <a:accent5>
          <a:srgbClr val="AAB8E2"/>
        </a:accent5>
        <a:accent6>
          <a:srgbClr val="2D8AE7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1465</Words>
  <Application>WPS Presentation</Application>
  <PresentationFormat>Widescreen</PresentationFormat>
  <Paragraphs>99</Paragraphs>
  <Slides>16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24" baseType="lpstr">
      <vt:lpstr>Arial</vt:lpstr>
      <vt:lpstr>SimSun</vt:lpstr>
      <vt:lpstr>Wingdings</vt:lpstr>
      <vt:lpstr>Arial Unicode MS</vt:lpstr>
      <vt:lpstr>Calibri Light</vt:lpstr>
      <vt:lpstr>Calibri</vt:lpstr>
      <vt:lpstr>Microsoft YaHei</vt:lpstr>
      <vt:lpstr>Blue Waves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WPS Presentation</dc:title>
  <dc:creator>KIIT0001</dc:creator>
  <cp:lastModifiedBy>Madhav das</cp:lastModifiedBy>
  <cp:revision>3</cp:revision>
  <dcterms:created xsi:type="dcterms:W3CDTF">2025-07-23T00:59:00Z</dcterms:created>
  <dcterms:modified xsi:type="dcterms:W3CDTF">2026-04-12T16:55:23Z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621FDB2B2EB34F239046CA6798B91F7F_11</vt:lpwstr>
  </property>
  <property fmtid="{D5CDD505-2E9C-101B-9397-08002B2CF9AE}" pid="3" name="KSOProductBuildVer">
    <vt:lpwstr>1033-12.2.0.23196</vt:lpwstr>
  </property>
</Properties>
</file>